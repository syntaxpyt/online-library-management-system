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132C52">
              <a:alpha val="7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2377440"/>
            <a:ext cx="3657600" cy="3657600"/>
          </a:xfrm>
          <a:prstGeom prst="ellipse">
            <a:avLst/>
          </a:prstGeom>
          <a:solidFill>
            <a:srgbClr val="F5B841">
              <a:alpha val="12000"/>
            </a:srgbClr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JDBC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application with MySQL storage, secure login and transactional borrow / return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32C52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520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352044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32C52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3520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352044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32C52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3520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DRIVEN TO WIN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Tripathi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26SCSE1010112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Kumar Singh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26SCSE1010374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90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Sultan Ansari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26SCSE1010494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6908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Madhurendra Kumar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26SCSE1010854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7" name="agenda-01"/>
          <p:cNvSpPr/>
          <p:nvPr/>
        </p:nvSpPr>
        <p:spPr>
          <a:xfrm>
            <a:off x="457200" y="141732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700" dirty="0"/>
          </a:p>
        </p:txBody>
      </p:sp>
      <p:sp>
        <p:nvSpPr>
          <p:cNvPr id="10" name="agenda-02"/>
          <p:cNvSpPr/>
          <p:nvPr/>
        </p:nvSpPr>
        <p:spPr>
          <a:xfrm>
            <a:off x="4663440" y="1417320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700" dirty="0"/>
          </a:p>
        </p:txBody>
      </p:sp>
      <p:sp>
        <p:nvSpPr>
          <p:cNvPr id="13" name="agenda-03"/>
          <p:cNvSpPr/>
          <p:nvPr/>
        </p:nvSpPr>
        <p:spPr>
          <a:xfrm>
            <a:off x="457200" y="2221992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219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2219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6" name="agenda-04"/>
          <p:cNvSpPr/>
          <p:nvPr/>
        </p:nvSpPr>
        <p:spPr>
          <a:xfrm>
            <a:off x="4663440" y="2221992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2219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2219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700" dirty="0"/>
          </a:p>
        </p:txBody>
      </p:sp>
      <p:sp>
        <p:nvSpPr>
          <p:cNvPr id="19" name="agenda-05"/>
          <p:cNvSpPr/>
          <p:nvPr/>
        </p:nvSpPr>
        <p:spPr>
          <a:xfrm>
            <a:off x="457200" y="3026664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266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02666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&amp; Security</a:t>
            </a:r>
            <a:endParaRPr lang="en-US" sz="1700" dirty="0"/>
          </a:p>
        </p:txBody>
      </p:sp>
      <p:sp>
        <p:nvSpPr>
          <p:cNvPr id="22" name="agenda-06"/>
          <p:cNvSpPr/>
          <p:nvPr/>
        </p:nvSpPr>
        <p:spPr>
          <a:xfrm>
            <a:off x="4663440" y="3026664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0266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302666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700" dirty="0"/>
          </a:p>
        </p:txBody>
      </p:sp>
      <p:sp>
        <p:nvSpPr>
          <p:cNvPr id="25" name="agenda-07"/>
          <p:cNvSpPr/>
          <p:nvPr/>
        </p:nvSpPr>
        <p:spPr>
          <a:xfrm>
            <a:off x="457200" y="3831336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313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8313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PROBLEM &amp; OBJECTIVES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are we solving?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sp>
        <p:nvSpPr>
          <p:cNvPr id="7" name="problem"/>
          <p:cNvSpPr/>
          <p:nvPr/>
        </p:nvSpPr>
        <p:spPr>
          <a:xfrm>
            <a:off x="45720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 make books and members hard to search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/ return records get lost or duplicated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availability, history or trends</a:t>
            </a:r>
            <a:endParaRPr lang="en-US" sz="1500" dirty="0"/>
          </a:p>
        </p:txBody>
      </p:sp>
      <p:sp>
        <p:nvSpPr>
          <p:cNvPr id="10" name="objectives"/>
          <p:cNvSpPr/>
          <p:nvPr/>
        </p:nvSpPr>
        <p:spPr>
          <a:xfrm>
            <a:off x="4480560" y="1371600"/>
            <a:ext cx="4206240" cy="3108960"/>
          </a:xfrm>
          <a:prstGeom prst="roundRect">
            <a:avLst>
              <a:gd name="adj" fmla="val 3529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9202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data in MySQL via JDBC – no local files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Librarian and Member roles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borrow / return using commit and rollback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inventory and borrowing trends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roles, one database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7" name="role-LIBRARIAN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13-option dashboard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delete books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delete members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books, members, transactions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trends</a:t>
            </a:r>
            <a:endParaRPr lang="en-US" sz="1400" dirty="0"/>
          </a:p>
        </p:txBody>
      </p:sp>
      <p:sp>
        <p:nvSpPr>
          <p:cNvPr id="12" name="role-MEMBER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508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3FC1C9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10-option dashboard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author, genre, ISBN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and return books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and search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notifications ([NEW] flag)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preference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flow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7" name="layer-0"/>
          <p:cNvSpPr/>
          <p:nvPr/>
        </p:nvSpPr>
        <p:spPr>
          <a:xfrm>
            <a:off x="457200" y="1737360"/>
            <a:ext cx="1536192" cy="2011680"/>
          </a:xfrm>
          <a:prstGeom prst="roundRect">
            <a:avLst>
              <a:gd name="adj" fmla="val 7143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class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LibraryManagementSystem: menus and input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layer-1"/>
          <p:cNvSpPr/>
          <p:nvPr/>
        </p:nvSpPr>
        <p:spPr>
          <a:xfrm>
            <a:off x="2139696" y="1737360"/>
            <a:ext cx="1536192" cy="2011680"/>
          </a:xfrm>
          <a:prstGeom prst="roundRect">
            <a:avLst>
              <a:gd name="adj" fmla="val 7143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31136" y="18745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2860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• Member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31136" y="301752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 objects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layer-2"/>
          <p:cNvSpPr/>
          <p:nvPr/>
        </p:nvSpPr>
        <p:spPr>
          <a:xfrm>
            <a:off x="3822192" y="1737360"/>
            <a:ext cx="1536192" cy="2011680"/>
          </a:xfrm>
          <a:prstGeom prst="roundRect">
            <a:avLst>
              <a:gd name="adj" fmla="val 7143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13632" y="18745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+ JDBC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22860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301752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queries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40096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layer-3"/>
          <p:cNvSpPr/>
          <p:nvPr/>
        </p:nvSpPr>
        <p:spPr>
          <a:xfrm>
            <a:off x="5504688" y="1737360"/>
            <a:ext cx="1536192" cy="2011680"/>
          </a:xfrm>
          <a:prstGeom prst="roundRect">
            <a:avLst>
              <a:gd name="adj" fmla="val 7143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96128" y="18745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596128" y="22860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DBConnection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96128" y="301752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db.properties + SHA-256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layer-4"/>
          <p:cNvSpPr/>
          <p:nvPr/>
        </p:nvSpPr>
        <p:spPr>
          <a:xfrm>
            <a:off x="7187184" y="1737360"/>
            <a:ext cx="1536192" cy="2011680"/>
          </a:xfrm>
          <a:prstGeom prst="roundRect">
            <a:avLst>
              <a:gd name="adj" fmla="val 7143"/>
            </a:avLst>
          </a:prstGeom>
          <a:solidFill>
            <a:srgbClr val="F5B841"/>
          </a:solidFill>
          <a:ln w="9525">
            <a:solidFill>
              <a:srgbClr val="F5B8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78624" y="18745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278624" y="22860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library_db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1752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relational tables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keeps menus, business logic and storage separate; every database call goes through Library.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DATABASE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– library_db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7" name="table-librarians"/>
          <p:cNvSpPr/>
          <p:nvPr/>
        </p:nvSpPr>
        <p:spPr>
          <a:xfrm>
            <a:off x="457200" y="13258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librarian_id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password</a:t>
            </a:r>
            <a:endParaRPr lang="en-US" sz="1200" dirty="0"/>
          </a:p>
        </p:txBody>
      </p:sp>
      <p:sp>
        <p:nvSpPr>
          <p:cNvPr id="10" name="table-members"/>
          <p:cNvSpPr/>
          <p:nvPr/>
        </p:nvSpPr>
        <p:spPr>
          <a:xfrm>
            <a:off x="3264408" y="13258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member_id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membership_id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notifications_enabled</a:t>
            </a:r>
            <a:endParaRPr lang="en-US" sz="1200" dirty="0"/>
          </a:p>
        </p:txBody>
      </p:sp>
      <p:sp>
        <p:nvSpPr>
          <p:cNvPr id="13" name="table-books"/>
          <p:cNvSpPr/>
          <p:nvPr/>
        </p:nvSpPr>
        <p:spPr>
          <a:xfrm>
            <a:off x="6071616" y="13258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8776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1737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book_id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author, isbn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available</a:t>
            </a:r>
            <a:endParaRPr lang="en-US" sz="1200" dirty="0"/>
          </a:p>
        </p:txBody>
      </p:sp>
      <p:sp>
        <p:nvSpPr>
          <p:cNvPr id="16" name="table-transactions"/>
          <p:cNvSpPr/>
          <p:nvPr/>
        </p:nvSpPr>
        <p:spPr>
          <a:xfrm>
            <a:off x="457200" y="27889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transaction_id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book_id, FK member_id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borrow_date, return_date, status</a:t>
            </a:r>
            <a:endParaRPr lang="en-US" sz="1200" dirty="0"/>
          </a:p>
        </p:txBody>
      </p:sp>
      <p:sp>
        <p:nvSpPr>
          <p:cNvPr id="19" name="table-notifications"/>
          <p:cNvSpPr/>
          <p:nvPr/>
        </p:nvSpPr>
        <p:spPr>
          <a:xfrm>
            <a:off x="3264408" y="27889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01568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notification_id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member_id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message, date, is_read</a:t>
            </a:r>
            <a:endParaRPr lang="en-US" sz="1200" dirty="0"/>
          </a:p>
        </p:txBody>
      </p:sp>
      <p:sp>
        <p:nvSpPr>
          <p:cNvPr id="22" name="table-search_history"/>
          <p:cNvSpPr/>
          <p:nvPr/>
        </p:nvSpPr>
        <p:spPr>
          <a:xfrm>
            <a:off x="6071616" y="27889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SEARCH_HISTORY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08776" y="3200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search_id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member_id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search_text, searched_at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book keeps history (book_id set to NULL); deleting a member cascades to their own records.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JDBC CONNECTIVITY &amp; SECURITY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Java talks to MySQL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7" name="jdbc-0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DBConnection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db.properties and returns a JDBC Connection via DriverManager</a:t>
            </a:r>
            <a:endParaRPr lang="en-US" sz="1300" dirty="0"/>
          </a:p>
        </p:txBody>
      </p:sp>
      <p:sp>
        <p:nvSpPr>
          <p:cNvPr id="12" name="jdbc-1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PreparedStatement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is parameterised – prevents SQL injection</a:t>
            </a:r>
            <a:endParaRPr lang="en-US" sz="1300" dirty="0"/>
          </a:p>
        </p:txBody>
      </p:sp>
      <p:sp>
        <p:nvSpPr>
          <p:cNvPr id="17" name="jdbc-2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hashing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and member passwords stored only as hashes</a:t>
            </a:r>
            <a:endParaRPr lang="en-US" sz="1300" dirty="0"/>
          </a:p>
        </p:txBody>
      </p:sp>
      <p:sp>
        <p:nvSpPr>
          <p:cNvPr id="22" name="jdbc-3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474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and return use setAutoCommit(false), commit, rollback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enforced: a borrowed book cannot be deleted; a member with an active loan cannot be deleted.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USER INTERFACE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Menu-driven console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7" name="terminal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71428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MAIN MENU ==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Librarian Login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Member Login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Exit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Librarian (excerpt) --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Book   4. View Books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View Transactions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 Inventory Report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 Borrowing Trends</a:t>
            </a:r>
            <a:endParaRPr lang="en-US" sz="1200" dirty="0"/>
          </a:p>
        </p:txBody>
      </p:sp>
      <p:sp>
        <p:nvSpPr>
          <p:cNvPr id="10" name="terminal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71428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8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MEMBER DASHBOARD ==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Search Books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View All Books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Borrow Book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Return Book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Borrowing History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Search History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Update Profile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Notification Alerts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Logout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572000" cy="4572000"/>
          </a:xfrm>
          <a:prstGeom prst="ellipse">
            <a:avLst/>
          </a:prstGeom>
          <a:solidFill>
            <a:srgbClr val="132C52">
              <a:alpha val="6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840480"/>
            <a:ext cx="3108960" cy="3108960"/>
          </a:xfrm>
          <a:prstGeom prst="ellipse">
            <a:avLst/>
          </a:prstGeom>
          <a:solidFill>
            <a:srgbClr val="132C52">
              <a:alpha val="40000"/>
            </a:srgbClr>
          </a:solidFill>
          <a:ln w="12700">
            <a:solidFill>
              <a:srgbClr val="132C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SCOPE &amp; 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and planned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100" dirty="0"/>
          </a:p>
        </p:txBody>
      </p:sp>
      <p:sp>
        <p:nvSpPr>
          <p:cNvPr id="7" name="done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8" name="next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32C52"/>
          </a:solidFill>
          <a:ln w="9525">
            <a:solidFill>
              <a:srgbClr val="2445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MySQL schema with sample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layer with hashed logins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librarian and member menus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notifications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C1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and due dates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or web front end (Swing / JSP)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self-registration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- JDBC</dc:title>
  <dc:subject>PptxGenJS Presentation</dc:subject>
  <dc:creator>PptxGenJS</dc:creator>
  <cp:lastModifiedBy>PptxGenJS</cp:lastModifiedBy>
  <cp:revision>1</cp:revision>
  <dcterms:created xsi:type="dcterms:W3CDTF">2026-10-10T03:10:27Z</dcterms:created>
  <dcterms:modified xsi:type="dcterms:W3CDTF">2026-10-10T03:10:27Z</dcterms:modified>
</cp:coreProperties>
</file>